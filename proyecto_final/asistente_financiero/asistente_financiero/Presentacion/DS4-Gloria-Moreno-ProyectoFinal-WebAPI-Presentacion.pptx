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61" r:id="rId3"/>
    <p:sldId id="283" r:id="rId4"/>
    <p:sldId id="284" r:id="rId5"/>
    <p:sldId id="262" r:id="rId6"/>
    <p:sldId id="263" r:id="rId7"/>
    <p:sldId id="265" r:id="rId8"/>
    <p:sldId id="285" r:id="rId9"/>
    <p:sldId id="282" r:id="rId10"/>
    <p:sldId id="277" r:id="rId11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73250F-0924-4EAA-B718-E8983BD31520}">
  <a:tblStyle styleId="{FB73250F-0924-4EAA-B718-E8983BD315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F5CB7D37-3F3D-BA9B-537F-BAD5A38F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C46F7297-3E10-7557-E6C3-0576F40BE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66BA2166-651D-2337-DBCE-C00CCE24C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0577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>
          <a:extLst>
            <a:ext uri="{FF2B5EF4-FFF2-40B4-BE49-F238E27FC236}">
              <a16:creationId xmlns:a16="http://schemas.microsoft.com/office/drawing/2014/main" id="{58CA94CF-40EB-A449-0B2B-FCCE0E03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>
            <a:extLst>
              <a:ext uri="{FF2B5EF4-FFF2-40B4-BE49-F238E27FC236}">
                <a16:creationId xmlns:a16="http://schemas.microsoft.com/office/drawing/2014/main" id="{2F6A8479-3EBC-2E33-3C8F-39B6280A5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>
            <a:extLst>
              <a:ext uri="{FF2B5EF4-FFF2-40B4-BE49-F238E27FC236}">
                <a16:creationId xmlns:a16="http://schemas.microsoft.com/office/drawing/2014/main" id="{A19C3392-48BA-0074-B454-97A53675D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218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e7f9c668d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e7f9c668d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e7f9c668d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e7f9c668d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>
          <a:extLst>
            <a:ext uri="{FF2B5EF4-FFF2-40B4-BE49-F238E27FC236}">
              <a16:creationId xmlns:a16="http://schemas.microsoft.com/office/drawing/2014/main" id="{198B75A2-D9F4-1790-DC19-D01E6C05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e7f9c668d6_0_33:notes">
            <a:extLst>
              <a:ext uri="{FF2B5EF4-FFF2-40B4-BE49-F238E27FC236}">
                <a16:creationId xmlns:a16="http://schemas.microsoft.com/office/drawing/2014/main" id="{683ED312-C52B-4FDD-5017-564BD2ED9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e7f9c668d6_0_33:notes">
            <a:extLst>
              <a:ext uri="{FF2B5EF4-FFF2-40B4-BE49-F238E27FC236}">
                <a16:creationId xmlns:a16="http://schemas.microsoft.com/office/drawing/2014/main" id="{93D198B2-8270-6CC4-74D9-3A8E8065E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2979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2860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e7f9c668d6_0_10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e7f9c668d6_0_10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2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subTitle" idx="4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subTitle" idx="5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subTitle" idx="6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subTitle" idx="7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16"/>
          <p:cNvSpPr txBox="1">
            <a:spLocks noGrp="1"/>
          </p:cNvSpPr>
          <p:nvPr>
            <p:ph type="subTitle" idx="8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"/>
          <p:cNvSpPr txBox="1">
            <a:spLocks noGrp="1"/>
          </p:cNvSpPr>
          <p:nvPr>
            <p:ph type="subTitle" idx="1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2" r:id="rId5"/>
    <p:sldLayoutId id="2147483665" r:id="rId6"/>
    <p:sldLayoutId id="2147483666" r:id="rId7"/>
    <p:sldLayoutId id="2147483669" r:id="rId8"/>
    <p:sldLayoutId id="214748367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7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4" y="1144250"/>
            <a:ext cx="6775435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Proyecto final </a:t>
            </a:r>
            <a:r>
              <a:rPr lang="en" dirty="0">
                <a:solidFill>
                  <a:schemeClr val="accent2"/>
                </a:solidFill>
              </a:rPr>
              <a:t>‘Asistente Financiero’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&lt;Elaborado por: </a:t>
            </a:r>
            <a:r>
              <a:rPr lang="en" sz="1600" b="1" i="1" dirty="0"/>
              <a:t>Gloria Moreno</a:t>
            </a:r>
            <a:r>
              <a:rPr lang="en" sz="1600" dirty="0"/>
              <a:t>&gt;</a:t>
            </a:r>
            <a:endParaRPr sz="1600" dirty="0"/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5" y="2014893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Desarollo de Soft, </a:t>
            </a:r>
            <a:r>
              <a:rPr lang="en" dirty="0">
                <a:solidFill>
                  <a:schemeClr val="lt2"/>
                </a:solidFill>
              </a:rPr>
              <a:t>IV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2014893"/>
            <a:ext cx="506100" cy="2189357"/>
            <a:chOff x="1413525" y="2014893"/>
            <a:chExt cx="506100" cy="2189357"/>
          </a:xfrm>
        </p:grpSpPr>
        <p:cxnSp>
          <p:nvCxnSpPr>
            <p:cNvPr id="463" name="Google Shape;463;p27"/>
            <p:cNvCxnSpPr>
              <a:cxnSpLocks/>
            </p:cNvCxnSpPr>
            <p:nvPr/>
          </p:nvCxnSpPr>
          <p:spPr>
            <a:xfrm>
              <a:off x="1552225" y="2014893"/>
              <a:ext cx="0" cy="1508407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/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85F91-A531-3A54-E75B-0B610FE1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19" y="2571750"/>
            <a:ext cx="2572145" cy="192677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4116667-60CB-0269-BF24-D6338869C6DE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026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EF4F763E-6B06-4EA7-8536-3F2A8B9AAF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08256C9D-0CF4-4461-B493-28A6A59E74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7B15F865-7337-4EFF-8B41-DF6A94A636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39ED6C3A-1FCC-4FE5-962D-7BC33D6AC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EB3F3CED-9CFA-4467-A52C-0537E635A1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What is C#? - Viking Software A/S">
              <a:extLst>
                <a:ext uri="{FF2B5EF4-FFF2-40B4-BE49-F238E27FC236}">
                  <a16:creationId xmlns:a16="http://schemas.microsoft.com/office/drawing/2014/main" id="{C3629522-0F93-4D66-BDC6-1B2C6BFCAE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Sql server - Free logo icons">
              <a:extLst>
                <a:ext uri="{FF2B5EF4-FFF2-40B4-BE49-F238E27FC236}">
                  <a16:creationId xmlns:a16="http://schemas.microsoft.com/office/drawing/2014/main" id="{2D5437E5-8C52-3FC4-BC5D-FE28004C07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499" y="621250"/>
            <a:ext cx="5539199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Diagrama de alto nivel; </a:t>
            </a:r>
            <a:r>
              <a:rPr lang="es-PA" dirty="0">
                <a:solidFill>
                  <a:schemeClr val="accent6"/>
                </a:solidFill>
              </a:rPr>
              <a:t>inicial</a:t>
            </a:r>
            <a:r>
              <a:rPr lang="es-PA" dirty="0"/>
              <a:t> </a:t>
            </a:r>
            <a:r>
              <a:rPr lang="es-PA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1" name="Google Shape;571;p32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3075A4-9AA2-927E-AB0D-0C9DA269E9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25"/>
          <a:stretch>
            <a:fillRect/>
          </a:stretch>
        </p:blipFill>
        <p:spPr bwMode="auto">
          <a:xfrm>
            <a:off x="4349842" y="1001148"/>
            <a:ext cx="3900339" cy="314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1076509-04B2-A0A5-A115-698FFD564A18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9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B56690F8-B526-72F0-176E-922A5D955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CA10DC98-9B9B-913D-3458-E93B7E4980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1907D53A-5D21-48D5-53F9-81C89D35F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C18DE930-15EE-C2BA-C657-F2DA0C9058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53478DB9-8B0A-B30E-80E7-0C719C1FEB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16" descr="What is C#? - Viking Software A/S">
              <a:extLst>
                <a:ext uri="{FF2B5EF4-FFF2-40B4-BE49-F238E27FC236}">
                  <a16:creationId xmlns:a16="http://schemas.microsoft.com/office/drawing/2014/main" id="{D64DF579-5226-1DD0-7E1B-343ED4B361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Sql server - Free logo icons">
              <a:extLst>
                <a:ext uri="{FF2B5EF4-FFF2-40B4-BE49-F238E27FC236}">
                  <a16:creationId xmlns:a16="http://schemas.microsoft.com/office/drawing/2014/main" id="{6B0B3764-3487-AE94-E668-051BEB7535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E1F60151-22D5-788B-D52A-915BEE4C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>
            <a:extLst>
              <a:ext uri="{FF2B5EF4-FFF2-40B4-BE49-F238E27FC236}">
                <a16:creationId xmlns:a16="http://schemas.microsoft.com/office/drawing/2014/main" id="{6DCDC61B-929E-99E0-F95A-8C652AE752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1499" y="621250"/>
            <a:ext cx="5539199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Diagrama de alto nivel; </a:t>
            </a:r>
            <a:r>
              <a:rPr lang="es-PA" dirty="0">
                <a:solidFill>
                  <a:schemeClr val="accent6"/>
                </a:solidFill>
              </a:rPr>
              <a:t>final</a:t>
            </a:r>
            <a:r>
              <a:rPr lang="es-PA" dirty="0"/>
              <a:t> </a:t>
            </a:r>
            <a:r>
              <a:rPr lang="es-PA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5E977B3B-5D74-3642-FBD5-DEC4A7D07FEA}"/>
              </a:ext>
            </a:extLst>
          </p:cNvPr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D728DF74-8E15-341B-6A5B-466766EC3B48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17119CA0-F899-094B-1A6D-EF08C8E58348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876D8EF0-0AC8-2F95-B058-1D5078D340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656AB99A-68F6-8DBD-AE00-4C96D5A33F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488F35B8-B9FC-F9C5-423E-C20FD7CC95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361B4-7B75-8504-E2A9-D82DF67AA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1" r="4982"/>
          <a:stretch>
            <a:fillRect/>
          </a:stretch>
        </p:blipFill>
        <p:spPr>
          <a:xfrm>
            <a:off x="2725331" y="1001136"/>
            <a:ext cx="6139542" cy="327653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699826-A0BD-5F2F-A044-412CB1386E9B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2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E881FD3C-8004-F537-6255-8B6F3BCA97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0E42764C-D221-74A2-50D2-09C97B4C5F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08BD9170-1F8F-8B46-1A72-F6C425EBF2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29DFC3F9-1A76-9943-D6C2-EC591A83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E18CBF5F-95AF-82DD-00BC-2CF4B8D2D9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What is C#? - Viking Software A/S">
              <a:extLst>
                <a:ext uri="{FF2B5EF4-FFF2-40B4-BE49-F238E27FC236}">
                  <a16:creationId xmlns:a16="http://schemas.microsoft.com/office/drawing/2014/main" id="{6DC20A46-9B3C-9FB9-60FC-E08DDC542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Sql server - Free logo icons">
              <a:extLst>
                <a:ext uri="{FF2B5EF4-FFF2-40B4-BE49-F238E27FC236}">
                  <a16:creationId xmlns:a16="http://schemas.microsoft.com/office/drawing/2014/main" id="{57C0AC3C-8197-22D8-AFE6-907E7553F4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24974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>
          <a:extLst>
            <a:ext uri="{FF2B5EF4-FFF2-40B4-BE49-F238E27FC236}">
              <a16:creationId xmlns:a16="http://schemas.microsoft.com/office/drawing/2014/main" id="{35D371FA-DD65-C754-45D7-6672F3F0E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>
            <a:extLst>
              <a:ext uri="{FF2B5EF4-FFF2-40B4-BE49-F238E27FC236}">
                <a16:creationId xmlns:a16="http://schemas.microsoft.com/office/drawing/2014/main" id="{24A9E883-A3FD-0A77-8D6A-D206E07EA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1499" y="621250"/>
            <a:ext cx="5539199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Diagrama ER</a:t>
            </a:r>
            <a:r>
              <a:rPr lang="es-PA" dirty="0">
                <a:solidFill>
                  <a:schemeClr val="accent6"/>
                </a:solidFill>
              </a:rPr>
              <a:t>{</a:t>
            </a:r>
          </a:p>
        </p:txBody>
      </p:sp>
      <p:grpSp>
        <p:nvGrpSpPr>
          <p:cNvPr id="563" name="Google Shape;563;p32">
            <a:extLst>
              <a:ext uri="{FF2B5EF4-FFF2-40B4-BE49-F238E27FC236}">
                <a16:creationId xmlns:a16="http://schemas.microsoft.com/office/drawing/2014/main" id="{A43D6C75-0CF4-8017-80F8-3A9D7DE88678}"/>
              </a:ext>
            </a:extLst>
          </p:cNvPr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>
              <a:extLst>
                <a:ext uri="{FF2B5EF4-FFF2-40B4-BE49-F238E27FC236}">
                  <a16:creationId xmlns:a16="http://schemas.microsoft.com/office/drawing/2014/main" id="{E9FC5023-30C2-0583-863E-50B44B8B78C7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>
              <a:extLst>
                <a:ext uri="{FF2B5EF4-FFF2-40B4-BE49-F238E27FC236}">
                  <a16:creationId xmlns:a16="http://schemas.microsoft.com/office/drawing/2014/main" id="{994A5F0B-7124-061C-47EB-DFF194A72095}"/>
                </a:ext>
              </a:extLst>
            </p:cNvPr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9" name="Google Shape;569;p32">
            <a:extLst>
              <a:ext uri="{FF2B5EF4-FFF2-40B4-BE49-F238E27FC236}">
                <a16:creationId xmlns:a16="http://schemas.microsoft.com/office/drawing/2014/main" id="{C35E2A5B-C9D5-0045-D1A6-159B7797A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0" name="Google Shape;570;p32">
            <a:extLst>
              <a:ext uri="{FF2B5EF4-FFF2-40B4-BE49-F238E27FC236}">
                <a16:creationId xmlns:a16="http://schemas.microsoft.com/office/drawing/2014/main" id="{15C162F0-6341-AD14-D68D-A0CB1A22142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571" name="Google Shape;571;p32">
            <a:extLst>
              <a:ext uri="{FF2B5EF4-FFF2-40B4-BE49-F238E27FC236}">
                <a16:creationId xmlns:a16="http://schemas.microsoft.com/office/drawing/2014/main" id="{5C9E7FEE-6104-642E-5E78-D2A8A6ED56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AD5218-1258-E2C0-6F05-1E1B3F631F0E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2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3F9FBF2F-A66B-4FC0-7CF4-C1C188D76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EDC5801F-DC36-CF9A-214B-9A790B5DCF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2935263D-35D4-05A7-197E-2CFE21EF28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1224B98C-F849-793B-722E-68F1F8FBC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ECE21EEC-B708-15E4-F169-F537D4BAD4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What is C#? - Viking Software A/S">
              <a:extLst>
                <a:ext uri="{FF2B5EF4-FFF2-40B4-BE49-F238E27FC236}">
                  <a16:creationId xmlns:a16="http://schemas.microsoft.com/office/drawing/2014/main" id="{48BFEFF5-0D1C-30E4-5C7F-F0F026F846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4" descr="Sql server - Free logo icons">
              <a:extLst>
                <a:ext uri="{FF2B5EF4-FFF2-40B4-BE49-F238E27FC236}">
                  <a16:creationId xmlns:a16="http://schemas.microsoft.com/office/drawing/2014/main" id="{1351F313-E3F6-AC26-96F4-A3CC3A48C3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0859DAB-BC41-0445-F803-BE2D00EE22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9080" y="886600"/>
            <a:ext cx="4700954" cy="347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6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3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3422774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PA" dirty="0" err="1">
                <a:solidFill>
                  <a:srgbClr val="FFC000"/>
                </a:solidFill>
              </a:rPr>
              <a:t>Default.aspx.cs</a:t>
            </a:r>
            <a:r>
              <a:rPr lang="en" dirty="0">
                <a:solidFill>
                  <a:srgbClr val="FFC000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580" name="Google Shape;580;p33"/>
          <p:cNvGrpSpPr/>
          <p:nvPr/>
        </p:nvGrpSpPr>
        <p:grpSpPr>
          <a:xfrm>
            <a:off x="1084825" y="1153725"/>
            <a:ext cx="506100" cy="3416300"/>
            <a:chOff x="1084825" y="1153725"/>
            <a:chExt cx="506100" cy="3416300"/>
          </a:xfrm>
        </p:grpSpPr>
        <p:sp>
          <p:nvSpPr>
            <p:cNvPr id="581" name="Google Shape;581;p33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82" name="Google Shape;582;p33"/>
            <p:cNvCxnSpPr/>
            <p:nvPr/>
          </p:nvCxnSpPr>
          <p:spPr>
            <a:xfrm>
              <a:off x="1337875" y="1153725"/>
              <a:ext cx="0" cy="2779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7" name="Google Shape;627;p33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28" name="Google Shape;628;p33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29" name="Google Shape;629;p33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B4AF51-6D6D-C38C-6CB5-01F4BBACAB9F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6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1525B5EE-4446-5E43-BACA-0E5DBA9203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D012852D-8058-AB57-FB3E-42EE855715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68F46DD6-E1D0-CF06-AB89-5AECFAF040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8ABC4BB6-30A2-EFD7-2D8B-246B271A06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002EB455-4056-8226-EB1D-3E956F0CA4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6" descr="What is C#? - Viking Software A/S">
              <a:extLst>
                <a:ext uri="{FF2B5EF4-FFF2-40B4-BE49-F238E27FC236}">
                  <a16:creationId xmlns:a16="http://schemas.microsoft.com/office/drawing/2014/main" id="{D5070E77-9810-0FA2-44FF-8849D67B97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4" descr="Sql server - Free logo icons">
              <a:extLst>
                <a:ext uri="{FF2B5EF4-FFF2-40B4-BE49-F238E27FC236}">
                  <a16:creationId xmlns:a16="http://schemas.microsoft.com/office/drawing/2014/main" id="{999E0E23-B3E0-503C-5CA2-36092E97FC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8E3945A-F7D7-C55A-1AE2-C83114BA7E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4847" y="1248600"/>
            <a:ext cx="5222353" cy="3236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Método </a:t>
            </a:r>
            <a:r>
              <a:rPr lang="en" dirty="0">
                <a:solidFill>
                  <a:srgbClr val="FFC000"/>
                </a:solidFill>
              </a:rPr>
              <a:t>‘</a:t>
            </a:r>
            <a:r>
              <a:rPr lang="es-PA" dirty="0" err="1">
                <a:solidFill>
                  <a:srgbClr val="FFC000"/>
                </a:solidFill>
              </a:rPr>
              <a:t>CargarDashboard</a:t>
            </a:r>
            <a:r>
              <a:rPr lang="es-PA" dirty="0">
                <a:solidFill>
                  <a:srgbClr val="FFC000"/>
                </a:solidFill>
              </a:rPr>
              <a:t>()</a:t>
            </a:r>
            <a:r>
              <a:rPr lang="en" dirty="0">
                <a:solidFill>
                  <a:srgbClr val="FFC000"/>
                </a:solidFill>
              </a:rPr>
              <a:t>’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635" name="Google Shape;635;p34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28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4" name="Google Shape;644;p34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45" name="Google Shape;645;p34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46" name="Google Shape;646;p34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cxnSp>
        <p:nvCxnSpPr>
          <p:cNvPr id="647" name="Google Shape;647;p34"/>
          <p:cNvCxnSpPr/>
          <p:nvPr/>
        </p:nvCxnSpPr>
        <p:spPr>
          <a:xfrm>
            <a:off x="1337875" y="1154900"/>
            <a:ext cx="0" cy="2778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434" name="Picture 2" descr="NET Core Developers – TechXi">
            <a:extLst>
              <a:ext uri="{FF2B5EF4-FFF2-40B4-BE49-F238E27FC236}">
                <a16:creationId xmlns:a16="http://schemas.microsoft.com/office/drawing/2014/main" id="{019ECCF8-F8E2-4643-B35A-429B0C9B4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725" y="1846700"/>
            <a:ext cx="2086800" cy="208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C90806F-08F6-CA54-9470-D772620C236A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11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C261616A-0833-7932-4846-FFEC3EDCF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021F864F-B40C-C790-488C-0C1D7116B7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BDB29EC6-B2A8-7311-8635-09C14225E8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2D38DD6F-F3C1-6467-2FEE-C1AE8D5F65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F5AA4A79-37F1-CBC6-48D7-5731AB61B7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6" descr="What is C#? - Viking Software A/S">
              <a:extLst>
                <a:ext uri="{FF2B5EF4-FFF2-40B4-BE49-F238E27FC236}">
                  <a16:creationId xmlns:a16="http://schemas.microsoft.com/office/drawing/2014/main" id="{D5654155-BFB4-9E5A-CE65-756B3BFEA0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Sql server - Free logo icons">
              <a:extLst>
                <a:ext uri="{FF2B5EF4-FFF2-40B4-BE49-F238E27FC236}">
                  <a16:creationId xmlns:a16="http://schemas.microsoft.com/office/drawing/2014/main" id="{61E80408-0A80-249E-127E-62F72E81CA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03048271-9317-B1D6-2652-982CD97831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01655" y="1257775"/>
            <a:ext cx="4963218" cy="2857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>
            <a:spLocks noGrp="1"/>
          </p:cNvSpPr>
          <p:nvPr>
            <p:ph type="subTitle" idx="2"/>
          </p:nvPr>
        </p:nvSpPr>
        <p:spPr>
          <a:xfrm>
            <a:off x="2474050" y="1573478"/>
            <a:ext cx="2461900" cy="23230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/>
              <a:t>&lt;E</a:t>
            </a:r>
            <a:r>
              <a:rPr lang="es-ES" dirty="0"/>
              <a:t>s </a:t>
            </a:r>
            <a:r>
              <a:rPr lang="es-PA" b="1" dirty="0"/>
              <a:t>librería externa de JavaScript</a:t>
            </a:r>
            <a:r>
              <a:rPr lang="es-PA" dirty="0"/>
              <a:t> que permite crear </a:t>
            </a:r>
            <a:r>
              <a:rPr lang="es-PA" b="1" dirty="0"/>
              <a:t>gráficos estadísticos interactivos</a:t>
            </a:r>
            <a:r>
              <a:rPr lang="es-PA" dirty="0"/>
              <a:t> en aplicaciones web usando el elemento &lt;</a:t>
            </a:r>
            <a:r>
              <a:rPr lang="es-PA" dirty="0" err="1"/>
              <a:t>canvas</a:t>
            </a:r>
            <a:r>
              <a:rPr lang="es-PA" dirty="0"/>
              <a:t>&gt; de HTML5.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714" name="Google Shape;714;p36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Resumen: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PA" dirty="0"/>
              <a:t>CHART.JS</a:t>
            </a:r>
            <a:r>
              <a:rPr lang="en" dirty="0"/>
              <a:t>;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63" name="Google Shape;763;p36"/>
          <p:cNvGrpSpPr/>
          <p:nvPr/>
        </p:nvGrpSpPr>
        <p:grpSpPr>
          <a:xfrm>
            <a:off x="1771663" y="1671650"/>
            <a:ext cx="578325" cy="487500"/>
            <a:chOff x="1665363" y="1706700"/>
            <a:chExt cx="578325" cy="487500"/>
          </a:xfrm>
        </p:grpSpPr>
        <p:sp>
          <p:nvSpPr>
            <p:cNvPr id="764" name="Google Shape;764;p36"/>
            <p:cNvSpPr/>
            <p:nvPr/>
          </p:nvSpPr>
          <p:spPr>
            <a:xfrm flipH="1">
              <a:off x="2174988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1665363" y="1706700"/>
              <a:ext cx="68700" cy="487500"/>
            </a:xfrm>
            <a:prstGeom prst="leftBracket">
              <a:avLst>
                <a:gd name="adj" fmla="val 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" name="Google Shape;775;p36"/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76" name="Google Shape;776;p36"/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77" name="Google Shape;777;p36"/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70" name="Google Shape;750;p36">
            <a:extLst>
              <a:ext uri="{FF2B5EF4-FFF2-40B4-BE49-F238E27FC236}">
                <a16:creationId xmlns:a16="http://schemas.microsoft.com/office/drawing/2014/main" id="{A96B8858-8D1A-4F88-BEA6-2883C4EB9657}"/>
              </a:ext>
            </a:extLst>
          </p:cNvPr>
          <p:cNvGrpSpPr/>
          <p:nvPr/>
        </p:nvGrpSpPr>
        <p:grpSpPr>
          <a:xfrm>
            <a:off x="1886113" y="1745375"/>
            <a:ext cx="365750" cy="302447"/>
            <a:chOff x="4667413" y="5261950"/>
            <a:chExt cx="475000" cy="389200"/>
          </a:xfrm>
        </p:grpSpPr>
        <p:sp>
          <p:nvSpPr>
            <p:cNvPr id="71" name="Google Shape;751;p36">
              <a:extLst>
                <a:ext uri="{FF2B5EF4-FFF2-40B4-BE49-F238E27FC236}">
                  <a16:creationId xmlns:a16="http://schemas.microsoft.com/office/drawing/2014/main" id="{FD6B442F-DA63-499B-813C-F9DD2E0BA4D2}"/>
                </a:ext>
              </a:extLst>
            </p:cNvPr>
            <p:cNvSpPr/>
            <p:nvPr/>
          </p:nvSpPr>
          <p:spPr>
            <a:xfrm>
              <a:off x="5021513" y="5271425"/>
              <a:ext cx="111425" cy="314775"/>
            </a:xfrm>
            <a:custGeom>
              <a:avLst/>
              <a:gdLst/>
              <a:ahLst/>
              <a:cxnLst/>
              <a:rect l="l" t="t" r="r" b="b"/>
              <a:pathLst>
                <a:path w="4457" h="12591" extrusionOk="0">
                  <a:moveTo>
                    <a:pt x="2238" y="0"/>
                  </a:moveTo>
                  <a:cubicBezTo>
                    <a:pt x="1006" y="0"/>
                    <a:pt x="1" y="986"/>
                    <a:pt x="1" y="2219"/>
                  </a:cubicBezTo>
                  <a:lnTo>
                    <a:pt x="1" y="12591"/>
                  </a:lnTo>
                  <a:lnTo>
                    <a:pt x="4457" y="12591"/>
                  </a:lnTo>
                  <a:lnTo>
                    <a:pt x="4457" y="2219"/>
                  </a:lnTo>
                  <a:cubicBezTo>
                    <a:pt x="4457" y="986"/>
                    <a:pt x="3452" y="0"/>
                    <a:pt x="2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52;p36">
              <a:extLst>
                <a:ext uri="{FF2B5EF4-FFF2-40B4-BE49-F238E27FC236}">
                  <a16:creationId xmlns:a16="http://schemas.microsoft.com/office/drawing/2014/main" id="{0883377C-6D57-4ECB-9B3B-D571205535A4}"/>
                </a:ext>
              </a:extLst>
            </p:cNvPr>
            <p:cNvSpPr/>
            <p:nvPr/>
          </p:nvSpPr>
          <p:spPr>
            <a:xfrm>
              <a:off x="4677363" y="5326875"/>
              <a:ext cx="454150" cy="315275"/>
            </a:xfrm>
            <a:custGeom>
              <a:avLst/>
              <a:gdLst/>
              <a:ahLst/>
              <a:cxnLst/>
              <a:rect l="l" t="t" r="r" b="b"/>
              <a:pathLst>
                <a:path w="18166" h="12611" extrusionOk="0">
                  <a:moveTo>
                    <a:pt x="740" y="1"/>
                  </a:moveTo>
                  <a:cubicBezTo>
                    <a:pt x="323" y="1"/>
                    <a:pt x="1" y="342"/>
                    <a:pt x="1" y="740"/>
                  </a:cubicBezTo>
                  <a:lnTo>
                    <a:pt x="1" y="11871"/>
                  </a:lnTo>
                  <a:cubicBezTo>
                    <a:pt x="1" y="12269"/>
                    <a:pt x="323" y="12610"/>
                    <a:pt x="740" y="12610"/>
                  </a:cubicBezTo>
                  <a:lnTo>
                    <a:pt x="16004" y="12610"/>
                  </a:lnTo>
                  <a:cubicBezTo>
                    <a:pt x="17199" y="12572"/>
                    <a:pt x="18166" y="11586"/>
                    <a:pt x="18166" y="10373"/>
                  </a:cubicBezTo>
                  <a:cubicBezTo>
                    <a:pt x="18166" y="9178"/>
                    <a:pt x="17199" y="8192"/>
                    <a:pt x="16004" y="8154"/>
                  </a:cubicBezTo>
                  <a:cubicBezTo>
                    <a:pt x="14772" y="8154"/>
                    <a:pt x="13767" y="9159"/>
                    <a:pt x="13767" y="10392"/>
                  </a:cubicBezTo>
                  <a:lnTo>
                    <a:pt x="137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53;p36">
              <a:extLst>
                <a:ext uri="{FF2B5EF4-FFF2-40B4-BE49-F238E27FC236}">
                  <a16:creationId xmlns:a16="http://schemas.microsoft.com/office/drawing/2014/main" id="{FA1C0C9F-C35D-487D-B8C6-A8DC72079573}"/>
                </a:ext>
              </a:extLst>
            </p:cNvPr>
            <p:cNvSpPr/>
            <p:nvPr/>
          </p:nvSpPr>
          <p:spPr>
            <a:xfrm>
              <a:off x="5058488" y="5567700"/>
              <a:ext cx="43650" cy="37325"/>
            </a:xfrm>
            <a:custGeom>
              <a:avLst/>
              <a:gdLst/>
              <a:ahLst/>
              <a:cxnLst/>
              <a:rect l="l" t="t" r="r" b="b"/>
              <a:pathLst>
                <a:path w="1746" h="1493" extrusionOk="0">
                  <a:moveTo>
                    <a:pt x="759" y="0"/>
                  </a:moveTo>
                  <a:cubicBezTo>
                    <a:pt x="342" y="0"/>
                    <a:pt x="1" y="342"/>
                    <a:pt x="1" y="759"/>
                  </a:cubicBezTo>
                  <a:cubicBezTo>
                    <a:pt x="1" y="1195"/>
                    <a:pt x="374" y="1492"/>
                    <a:pt x="756" y="1492"/>
                  </a:cubicBezTo>
                  <a:cubicBezTo>
                    <a:pt x="939" y="1492"/>
                    <a:pt x="1124" y="1424"/>
                    <a:pt x="1271" y="1271"/>
                  </a:cubicBezTo>
                  <a:cubicBezTo>
                    <a:pt x="1745" y="816"/>
                    <a:pt x="1404" y="0"/>
                    <a:pt x="7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54;p36">
              <a:extLst>
                <a:ext uri="{FF2B5EF4-FFF2-40B4-BE49-F238E27FC236}">
                  <a16:creationId xmlns:a16="http://schemas.microsoft.com/office/drawing/2014/main" id="{81027992-C35F-4670-AA2C-A00BD7104E19}"/>
                </a:ext>
              </a:extLst>
            </p:cNvPr>
            <p:cNvSpPr/>
            <p:nvPr/>
          </p:nvSpPr>
          <p:spPr>
            <a:xfrm>
              <a:off x="4728563" y="5382350"/>
              <a:ext cx="64975" cy="55675"/>
            </a:xfrm>
            <a:custGeom>
              <a:avLst/>
              <a:gdLst/>
              <a:ahLst/>
              <a:cxnLst/>
              <a:rect l="l" t="t" r="r" b="b"/>
              <a:pathLst>
                <a:path w="2599" h="2227" extrusionOk="0">
                  <a:moveTo>
                    <a:pt x="1499" y="0"/>
                  </a:moveTo>
                  <a:cubicBezTo>
                    <a:pt x="513" y="0"/>
                    <a:pt x="1" y="1195"/>
                    <a:pt x="702" y="1897"/>
                  </a:cubicBezTo>
                  <a:cubicBezTo>
                    <a:pt x="930" y="2124"/>
                    <a:pt x="1210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512"/>
                    <a:pt x="2105" y="0"/>
                    <a:pt x="14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5;p36">
              <a:extLst>
                <a:ext uri="{FF2B5EF4-FFF2-40B4-BE49-F238E27FC236}">
                  <a16:creationId xmlns:a16="http://schemas.microsoft.com/office/drawing/2014/main" id="{E285DDF4-73BC-4DAD-B7C3-24982FA43375}"/>
                </a:ext>
              </a:extLst>
            </p:cNvPr>
            <p:cNvSpPr/>
            <p:nvPr/>
          </p:nvSpPr>
          <p:spPr>
            <a:xfrm>
              <a:off x="5083138" y="5465775"/>
              <a:ext cx="21825" cy="18750"/>
            </a:xfrm>
            <a:custGeom>
              <a:avLst/>
              <a:gdLst/>
              <a:ahLst/>
              <a:cxnLst/>
              <a:rect l="l" t="t" r="r" b="b"/>
              <a:pathLst>
                <a:path w="873" h="750" extrusionOk="0">
                  <a:moveTo>
                    <a:pt x="513" y="1"/>
                  </a:moveTo>
                  <a:cubicBezTo>
                    <a:pt x="171" y="1"/>
                    <a:pt x="1" y="399"/>
                    <a:pt x="247" y="645"/>
                  </a:cubicBezTo>
                  <a:cubicBezTo>
                    <a:pt x="319" y="717"/>
                    <a:pt x="409" y="749"/>
                    <a:pt x="497" y="749"/>
                  </a:cubicBezTo>
                  <a:cubicBezTo>
                    <a:pt x="687" y="749"/>
                    <a:pt x="873" y="600"/>
                    <a:pt x="873" y="380"/>
                  </a:cubicBezTo>
                  <a:cubicBezTo>
                    <a:pt x="873" y="171"/>
                    <a:pt x="702" y="1"/>
                    <a:pt x="51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56;p36">
              <a:extLst>
                <a:ext uri="{FF2B5EF4-FFF2-40B4-BE49-F238E27FC236}">
                  <a16:creationId xmlns:a16="http://schemas.microsoft.com/office/drawing/2014/main" id="{D6B49D4A-445D-42D9-A51B-D3A3B06F3B96}"/>
                </a:ext>
              </a:extLst>
            </p:cNvPr>
            <p:cNvSpPr/>
            <p:nvPr/>
          </p:nvSpPr>
          <p:spPr>
            <a:xfrm>
              <a:off x="5040013" y="5558700"/>
              <a:ext cx="64950" cy="55650"/>
            </a:xfrm>
            <a:custGeom>
              <a:avLst/>
              <a:gdLst/>
              <a:ahLst/>
              <a:cxnLst/>
              <a:rect l="l" t="t" r="r" b="b"/>
              <a:pathLst>
                <a:path w="2598" h="2226" extrusionOk="0">
                  <a:moveTo>
                    <a:pt x="1474" y="731"/>
                  </a:moveTo>
                  <a:cubicBezTo>
                    <a:pt x="1671" y="731"/>
                    <a:pt x="1858" y="885"/>
                    <a:pt x="1858" y="1119"/>
                  </a:cubicBezTo>
                  <a:cubicBezTo>
                    <a:pt x="1858" y="1308"/>
                    <a:pt x="1688" y="1479"/>
                    <a:pt x="1498" y="1479"/>
                  </a:cubicBezTo>
                  <a:cubicBezTo>
                    <a:pt x="1157" y="1479"/>
                    <a:pt x="986" y="1081"/>
                    <a:pt x="1214" y="834"/>
                  </a:cubicBezTo>
                  <a:cubicBezTo>
                    <a:pt x="1291" y="763"/>
                    <a:pt x="1383" y="731"/>
                    <a:pt x="1474" y="731"/>
                  </a:cubicBezTo>
                  <a:close/>
                  <a:moveTo>
                    <a:pt x="1498" y="0"/>
                  </a:moveTo>
                  <a:cubicBezTo>
                    <a:pt x="493" y="0"/>
                    <a:pt x="0" y="1195"/>
                    <a:pt x="702" y="1896"/>
                  </a:cubicBezTo>
                  <a:cubicBezTo>
                    <a:pt x="930" y="2124"/>
                    <a:pt x="1209" y="2226"/>
                    <a:pt x="1483" y="2226"/>
                  </a:cubicBezTo>
                  <a:cubicBezTo>
                    <a:pt x="2053" y="2226"/>
                    <a:pt x="2598" y="1785"/>
                    <a:pt x="2598" y="1119"/>
                  </a:cubicBezTo>
                  <a:cubicBezTo>
                    <a:pt x="2598" y="493"/>
                    <a:pt x="2105" y="0"/>
                    <a:pt x="1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57;p36">
              <a:extLst>
                <a:ext uri="{FF2B5EF4-FFF2-40B4-BE49-F238E27FC236}">
                  <a16:creationId xmlns:a16="http://schemas.microsoft.com/office/drawing/2014/main" id="{1B8F0272-3A5C-4E3E-935B-10CCA3331375}"/>
                </a:ext>
              </a:extLst>
            </p:cNvPr>
            <p:cNvSpPr/>
            <p:nvPr/>
          </p:nvSpPr>
          <p:spPr>
            <a:xfrm>
              <a:off x="4667413" y="5261950"/>
              <a:ext cx="475000" cy="389200"/>
            </a:xfrm>
            <a:custGeom>
              <a:avLst/>
              <a:gdLst/>
              <a:ahLst/>
              <a:cxnLst/>
              <a:rect l="l" t="t" r="r" b="b"/>
              <a:pathLst>
                <a:path w="19000" h="15568" extrusionOk="0">
                  <a:moveTo>
                    <a:pt x="16402" y="740"/>
                  </a:moveTo>
                  <a:cubicBezTo>
                    <a:pt x="17407" y="740"/>
                    <a:pt x="18241" y="1574"/>
                    <a:pt x="18241" y="2598"/>
                  </a:cubicBezTo>
                  <a:lnTo>
                    <a:pt x="18241" y="11168"/>
                  </a:lnTo>
                  <a:cubicBezTo>
                    <a:pt x="17739" y="10647"/>
                    <a:pt x="17066" y="10386"/>
                    <a:pt x="16393" y="10386"/>
                  </a:cubicBezTo>
                  <a:cubicBezTo>
                    <a:pt x="15720" y="10386"/>
                    <a:pt x="15046" y="10647"/>
                    <a:pt x="14544" y="11168"/>
                  </a:cubicBezTo>
                  <a:lnTo>
                    <a:pt x="14544" y="2598"/>
                  </a:lnTo>
                  <a:cubicBezTo>
                    <a:pt x="14544" y="1574"/>
                    <a:pt x="15378" y="740"/>
                    <a:pt x="16402" y="740"/>
                  </a:cubicBezTo>
                  <a:close/>
                  <a:moveTo>
                    <a:pt x="13804" y="2977"/>
                  </a:moveTo>
                  <a:lnTo>
                    <a:pt x="13804" y="12970"/>
                  </a:lnTo>
                  <a:cubicBezTo>
                    <a:pt x="13804" y="13671"/>
                    <a:pt x="14089" y="14354"/>
                    <a:pt x="14582" y="14828"/>
                  </a:cubicBezTo>
                  <a:lnTo>
                    <a:pt x="1119" y="14828"/>
                  </a:lnTo>
                  <a:cubicBezTo>
                    <a:pt x="911" y="14828"/>
                    <a:pt x="759" y="14657"/>
                    <a:pt x="759" y="14468"/>
                  </a:cubicBezTo>
                  <a:lnTo>
                    <a:pt x="759" y="3337"/>
                  </a:lnTo>
                  <a:cubicBezTo>
                    <a:pt x="759" y="3129"/>
                    <a:pt x="911" y="2977"/>
                    <a:pt x="1119" y="2977"/>
                  </a:cubicBezTo>
                  <a:close/>
                  <a:moveTo>
                    <a:pt x="16374" y="11120"/>
                  </a:moveTo>
                  <a:cubicBezTo>
                    <a:pt x="17329" y="11120"/>
                    <a:pt x="18241" y="11859"/>
                    <a:pt x="18241" y="12989"/>
                  </a:cubicBezTo>
                  <a:cubicBezTo>
                    <a:pt x="18241" y="13994"/>
                    <a:pt x="17407" y="14828"/>
                    <a:pt x="16402" y="14828"/>
                  </a:cubicBezTo>
                  <a:cubicBezTo>
                    <a:pt x="14734" y="14828"/>
                    <a:pt x="13918" y="12837"/>
                    <a:pt x="15075" y="11661"/>
                  </a:cubicBezTo>
                  <a:cubicBezTo>
                    <a:pt x="15454" y="11288"/>
                    <a:pt x="15919" y="11120"/>
                    <a:pt x="16374" y="11120"/>
                  </a:cubicBezTo>
                  <a:close/>
                  <a:moveTo>
                    <a:pt x="16402" y="0"/>
                  </a:moveTo>
                  <a:cubicBezTo>
                    <a:pt x="15113" y="19"/>
                    <a:pt x="14013" y="948"/>
                    <a:pt x="13823" y="2238"/>
                  </a:cubicBezTo>
                  <a:lnTo>
                    <a:pt x="1119" y="2238"/>
                  </a:lnTo>
                  <a:cubicBezTo>
                    <a:pt x="512" y="2238"/>
                    <a:pt x="1" y="2731"/>
                    <a:pt x="1" y="3337"/>
                  </a:cubicBezTo>
                  <a:lnTo>
                    <a:pt x="1" y="14468"/>
                  </a:lnTo>
                  <a:cubicBezTo>
                    <a:pt x="1" y="15075"/>
                    <a:pt x="512" y="15568"/>
                    <a:pt x="1119" y="15568"/>
                  </a:cubicBezTo>
                  <a:lnTo>
                    <a:pt x="16383" y="15568"/>
                  </a:lnTo>
                  <a:cubicBezTo>
                    <a:pt x="17824" y="15568"/>
                    <a:pt x="19000" y="14411"/>
                    <a:pt x="19000" y="12989"/>
                  </a:cubicBezTo>
                  <a:lnTo>
                    <a:pt x="19000" y="2598"/>
                  </a:lnTo>
                  <a:cubicBezTo>
                    <a:pt x="19000" y="1157"/>
                    <a:pt x="17824" y="0"/>
                    <a:pt x="164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58;p36">
              <a:extLst>
                <a:ext uri="{FF2B5EF4-FFF2-40B4-BE49-F238E27FC236}">
                  <a16:creationId xmlns:a16="http://schemas.microsoft.com/office/drawing/2014/main" id="{02EFD397-E8EF-4295-90E2-617FFE8B1EAA}"/>
                </a:ext>
              </a:extLst>
            </p:cNvPr>
            <p:cNvSpPr/>
            <p:nvPr/>
          </p:nvSpPr>
          <p:spPr>
            <a:xfrm>
              <a:off x="4714513" y="5372850"/>
              <a:ext cx="143950" cy="219400"/>
            </a:xfrm>
            <a:custGeom>
              <a:avLst/>
              <a:gdLst/>
              <a:ahLst/>
              <a:cxnLst/>
              <a:rect l="l" t="t" r="r" b="b"/>
              <a:pathLst>
                <a:path w="5758" h="8776" extrusionOk="0">
                  <a:moveTo>
                    <a:pt x="2037" y="756"/>
                  </a:moveTo>
                  <a:cubicBezTo>
                    <a:pt x="2415" y="756"/>
                    <a:pt x="2781" y="1049"/>
                    <a:pt x="2781" y="1499"/>
                  </a:cubicBezTo>
                  <a:cubicBezTo>
                    <a:pt x="2781" y="1916"/>
                    <a:pt x="2459" y="2239"/>
                    <a:pt x="2042" y="2239"/>
                  </a:cubicBezTo>
                  <a:cubicBezTo>
                    <a:pt x="1378" y="2239"/>
                    <a:pt x="1056" y="1442"/>
                    <a:pt x="1530" y="968"/>
                  </a:cubicBezTo>
                  <a:cubicBezTo>
                    <a:pt x="1676" y="822"/>
                    <a:pt x="1858" y="756"/>
                    <a:pt x="2037" y="756"/>
                  </a:cubicBezTo>
                  <a:close/>
                  <a:moveTo>
                    <a:pt x="2038" y="1"/>
                  </a:moveTo>
                  <a:cubicBezTo>
                    <a:pt x="1681" y="1"/>
                    <a:pt x="1313" y="137"/>
                    <a:pt x="999" y="456"/>
                  </a:cubicBezTo>
                  <a:cubicBezTo>
                    <a:pt x="1" y="1485"/>
                    <a:pt x="875" y="3002"/>
                    <a:pt x="2040" y="3002"/>
                  </a:cubicBezTo>
                  <a:cubicBezTo>
                    <a:pt x="2291" y="3002"/>
                    <a:pt x="2556" y="2931"/>
                    <a:pt x="2819" y="2770"/>
                  </a:cubicBezTo>
                  <a:lnTo>
                    <a:pt x="3179" y="4192"/>
                  </a:lnTo>
                  <a:cubicBezTo>
                    <a:pt x="3201" y="4352"/>
                    <a:pt x="3335" y="4420"/>
                    <a:pt x="3484" y="4420"/>
                  </a:cubicBezTo>
                  <a:cubicBezTo>
                    <a:pt x="3721" y="4420"/>
                    <a:pt x="3993" y="4247"/>
                    <a:pt x="3900" y="4002"/>
                  </a:cubicBezTo>
                  <a:lnTo>
                    <a:pt x="3767" y="3509"/>
                  </a:lnTo>
                  <a:lnTo>
                    <a:pt x="3767" y="3509"/>
                  </a:lnTo>
                  <a:cubicBezTo>
                    <a:pt x="5019" y="4647"/>
                    <a:pt x="5019" y="6050"/>
                    <a:pt x="5019" y="8174"/>
                  </a:cubicBezTo>
                  <a:lnTo>
                    <a:pt x="5019" y="8420"/>
                  </a:lnTo>
                  <a:cubicBezTo>
                    <a:pt x="5019" y="8657"/>
                    <a:pt x="5203" y="8776"/>
                    <a:pt x="5388" y="8776"/>
                  </a:cubicBezTo>
                  <a:cubicBezTo>
                    <a:pt x="5573" y="8776"/>
                    <a:pt x="5758" y="8657"/>
                    <a:pt x="5758" y="8420"/>
                  </a:cubicBezTo>
                  <a:lnTo>
                    <a:pt x="5758" y="8174"/>
                  </a:lnTo>
                  <a:cubicBezTo>
                    <a:pt x="5758" y="5993"/>
                    <a:pt x="5758" y="4324"/>
                    <a:pt x="4298" y="2997"/>
                  </a:cubicBezTo>
                  <a:lnTo>
                    <a:pt x="4298" y="2978"/>
                  </a:lnTo>
                  <a:lnTo>
                    <a:pt x="4639" y="2978"/>
                  </a:lnTo>
                  <a:cubicBezTo>
                    <a:pt x="4657" y="2980"/>
                    <a:pt x="4674" y="2981"/>
                    <a:pt x="4690" y="2981"/>
                  </a:cubicBezTo>
                  <a:cubicBezTo>
                    <a:pt x="5159" y="2981"/>
                    <a:pt x="5153" y="2237"/>
                    <a:pt x="4674" y="2237"/>
                  </a:cubicBezTo>
                  <a:cubicBezTo>
                    <a:pt x="4663" y="2237"/>
                    <a:pt x="4651" y="2238"/>
                    <a:pt x="4639" y="2239"/>
                  </a:cubicBezTo>
                  <a:lnTo>
                    <a:pt x="3350" y="2239"/>
                  </a:lnTo>
                  <a:cubicBezTo>
                    <a:pt x="3996" y="1115"/>
                    <a:pt x="3060" y="1"/>
                    <a:pt x="20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59;p36">
              <a:extLst>
                <a:ext uri="{FF2B5EF4-FFF2-40B4-BE49-F238E27FC236}">
                  <a16:creationId xmlns:a16="http://schemas.microsoft.com/office/drawing/2014/main" id="{D31EA2F0-7028-404D-A34D-FB1D63DC8A5B}"/>
                </a:ext>
              </a:extLst>
            </p:cNvPr>
            <p:cNvSpPr/>
            <p:nvPr/>
          </p:nvSpPr>
          <p:spPr>
            <a:xfrm>
              <a:off x="4891663" y="5373175"/>
              <a:ext cx="81950" cy="74525"/>
            </a:xfrm>
            <a:custGeom>
              <a:avLst/>
              <a:gdLst/>
              <a:ahLst/>
              <a:cxnLst/>
              <a:rect l="l" t="t" r="r" b="b"/>
              <a:pathLst>
                <a:path w="3278" h="2981" extrusionOk="0">
                  <a:moveTo>
                    <a:pt x="529" y="1"/>
                  </a:moveTo>
                  <a:cubicBezTo>
                    <a:pt x="241" y="1"/>
                    <a:pt x="4" y="372"/>
                    <a:pt x="265" y="633"/>
                  </a:cubicBezTo>
                  <a:lnTo>
                    <a:pt x="1118" y="1486"/>
                  </a:lnTo>
                  <a:lnTo>
                    <a:pt x="265" y="2339"/>
                  </a:lnTo>
                  <a:cubicBezTo>
                    <a:pt x="1" y="2603"/>
                    <a:pt x="247" y="2980"/>
                    <a:pt x="539" y="2980"/>
                  </a:cubicBezTo>
                  <a:cubicBezTo>
                    <a:pt x="624" y="2980"/>
                    <a:pt x="714" y="2948"/>
                    <a:pt x="796" y="2870"/>
                  </a:cubicBezTo>
                  <a:lnTo>
                    <a:pt x="1649" y="2017"/>
                  </a:lnTo>
                  <a:lnTo>
                    <a:pt x="2483" y="2870"/>
                  </a:lnTo>
                  <a:cubicBezTo>
                    <a:pt x="2565" y="2948"/>
                    <a:pt x="2655" y="2980"/>
                    <a:pt x="2740" y="2980"/>
                  </a:cubicBezTo>
                  <a:cubicBezTo>
                    <a:pt x="3032" y="2980"/>
                    <a:pt x="3278" y="2603"/>
                    <a:pt x="3014" y="2339"/>
                  </a:cubicBezTo>
                  <a:lnTo>
                    <a:pt x="2161" y="1486"/>
                  </a:lnTo>
                  <a:lnTo>
                    <a:pt x="3014" y="633"/>
                  </a:lnTo>
                  <a:cubicBezTo>
                    <a:pt x="3166" y="500"/>
                    <a:pt x="3166" y="254"/>
                    <a:pt x="3014" y="121"/>
                  </a:cubicBezTo>
                  <a:cubicBezTo>
                    <a:pt x="2938" y="45"/>
                    <a:pt x="2844" y="7"/>
                    <a:pt x="2749" y="7"/>
                  </a:cubicBezTo>
                  <a:cubicBezTo>
                    <a:pt x="2654" y="7"/>
                    <a:pt x="2559" y="45"/>
                    <a:pt x="2483" y="121"/>
                  </a:cubicBezTo>
                  <a:lnTo>
                    <a:pt x="1649" y="955"/>
                  </a:lnTo>
                  <a:lnTo>
                    <a:pt x="796" y="121"/>
                  </a:lnTo>
                  <a:cubicBezTo>
                    <a:pt x="711" y="36"/>
                    <a:pt x="617" y="1"/>
                    <a:pt x="5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760;p36">
              <a:extLst>
                <a:ext uri="{FF2B5EF4-FFF2-40B4-BE49-F238E27FC236}">
                  <a16:creationId xmlns:a16="http://schemas.microsoft.com/office/drawing/2014/main" id="{4B71A653-F6DE-40D6-99A3-E174C01E1806}"/>
                </a:ext>
              </a:extLst>
            </p:cNvPr>
            <p:cNvSpPr/>
            <p:nvPr/>
          </p:nvSpPr>
          <p:spPr>
            <a:xfrm>
              <a:off x="4891663" y="5521325"/>
              <a:ext cx="81875" cy="74525"/>
            </a:xfrm>
            <a:custGeom>
              <a:avLst/>
              <a:gdLst/>
              <a:ahLst/>
              <a:cxnLst/>
              <a:rect l="l" t="t" r="r" b="b"/>
              <a:pathLst>
                <a:path w="3275" h="2981" extrusionOk="0">
                  <a:moveTo>
                    <a:pt x="539" y="1"/>
                  </a:moveTo>
                  <a:cubicBezTo>
                    <a:pt x="247" y="1"/>
                    <a:pt x="1" y="378"/>
                    <a:pt x="265" y="642"/>
                  </a:cubicBezTo>
                  <a:lnTo>
                    <a:pt x="1118" y="1495"/>
                  </a:lnTo>
                  <a:lnTo>
                    <a:pt x="265" y="2348"/>
                  </a:lnTo>
                  <a:cubicBezTo>
                    <a:pt x="4" y="2609"/>
                    <a:pt x="241" y="2981"/>
                    <a:pt x="529" y="2981"/>
                  </a:cubicBezTo>
                  <a:cubicBezTo>
                    <a:pt x="617" y="2981"/>
                    <a:pt x="711" y="2945"/>
                    <a:pt x="796" y="2860"/>
                  </a:cubicBezTo>
                  <a:lnTo>
                    <a:pt x="1649" y="2026"/>
                  </a:lnTo>
                  <a:lnTo>
                    <a:pt x="2483" y="2860"/>
                  </a:lnTo>
                  <a:cubicBezTo>
                    <a:pt x="2568" y="2945"/>
                    <a:pt x="2662" y="2981"/>
                    <a:pt x="2750" y="2981"/>
                  </a:cubicBezTo>
                  <a:cubicBezTo>
                    <a:pt x="3038" y="2981"/>
                    <a:pt x="3275" y="2609"/>
                    <a:pt x="3014" y="2348"/>
                  </a:cubicBezTo>
                  <a:lnTo>
                    <a:pt x="2161" y="1495"/>
                  </a:lnTo>
                  <a:lnTo>
                    <a:pt x="3014" y="642"/>
                  </a:lnTo>
                  <a:cubicBezTo>
                    <a:pt x="3166" y="490"/>
                    <a:pt x="3166" y="263"/>
                    <a:pt x="3014" y="111"/>
                  </a:cubicBezTo>
                  <a:cubicBezTo>
                    <a:pt x="2938" y="44"/>
                    <a:pt x="2844" y="11"/>
                    <a:pt x="2749" y="11"/>
                  </a:cubicBezTo>
                  <a:cubicBezTo>
                    <a:pt x="2654" y="11"/>
                    <a:pt x="2559" y="44"/>
                    <a:pt x="2483" y="111"/>
                  </a:cubicBezTo>
                  <a:lnTo>
                    <a:pt x="1649" y="964"/>
                  </a:lnTo>
                  <a:lnTo>
                    <a:pt x="796" y="111"/>
                  </a:lnTo>
                  <a:cubicBezTo>
                    <a:pt x="714" y="33"/>
                    <a:pt x="624" y="1"/>
                    <a:pt x="5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761;p36">
              <a:extLst>
                <a:ext uri="{FF2B5EF4-FFF2-40B4-BE49-F238E27FC236}">
                  <a16:creationId xmlns:a16="http://schemas.microsoft.com/office/drawing/2014/main" id="{E5E9B7E1-1193-4E58-B47D-EFFA44F020EB}"/>
                </a:ext>
              </a:extLst>
            </p:cNvPr>
            <p:cNvSpPr/>
            <p:nvPr/>
          </p:nvSpPr>
          <p:spPr>
            <a:xfrm>
              <a:off x="4724813" y="5521325"/>
              <a:ext cx="82250" cy="74525"/>
            </a:xfrm>
            <a:custGeom>
              <a:avLst/>
              <a:gdLst/>
              <a:ahLst/>
              <a:cxnLst/>
              <a:rect l="l" t="t" r="r" b="b"/>
              <a:pathLst>
                <a:path w="3290" h="2981" extrusionOk="0">
                  <a:moveTo>
                    <a:pt x="546" y="1"/>
                  </a:moveTo>
                  <a:cubicBezTo>
                    <a:pt x="258" y="1"/>
                    <a:pt x="0" y="378"/>
                    <a:pt x="264" y="642"/>
                  </a:cubicBezTo>
                  <a:lnTo>
                    <a:pt x="1118" y="1495"/>
                  </a:lnTo>
                  <a:lnTo>
                    <a:pt x="264" y="2348"/>
                  </a:lnTo>
                  <a:cubicBezTo>
                    <a:pt x="4" y="2609"/>
                    <a:pt x="252" y="2981"/>
                    <a:pt x="536" y="2981"/>
                  </a:cubicBezTo>
                  <a:cubicBezTo>
                    <a:pt x="624" y="2981"/>
                    <a:pt x="715" y="2945"/>
                    <a:pt x="795" y="2860"/>
                  </a:cubicBezTo>
                  <a:lnTo>
                    <a:pt x="1649" y="2026"/>
                  </a:lnTo>
                  <a:lnTo>
                    <a:pt x="2502" y="2860"/>
                  </a:lnTo>
                  <a:cubicBezTo>
                    <a:pt x="2582" y="2945"/>
                    <a:pt x="2673" y="2981"/>
                    <a:pt x="2761" y="2981"/>
                  </a:cubicBezTo>
                  <a:cubicBezTo>
                    <a:pt x="3044" y="2981"/>
                    <a:pt x="3289" y="2609"/>
                    <a:pt x="3014" y="2348"/>
                  </a:cubicBezTo>
                  <a:lnTo>
                    <a:pt x="2179" y="1495"/>
                  </a:lnTo>
                  <a:lnTo>
                    <a:pt x="3014" y="642"/>
                  </a:lnTo>
                  <a:cubicBezTo>
                    <a:pt x="3165" y="490"/>
                    <a:pt x="3165" y="263"/>
                    <a:pt x="3014" y="111"/>
                  </a:cubicBezTo>
                  <a:cubicBezTo>
                    <a:pt x="2947" y="44"/>
                    <a:pt x="2853" y="11"/>
                    <a:pt x="2758" y="11"/>
                  </a:cubicBezTo>
                  <a:cubicBezTo>
                    <a:pt x="2663" y="11"/>
                    <a:pt x="2568" y="44"/>
                    <a:pt x="2502" y="111"/>
                  </a:cubicBezTo>
                  <a:lnTo>
                    <a:pt x="1649" y="964"/>
                  </a:lnTo>
                  <a:lnTo>
                    <a:pt x="795" y="111"/>
                  </a:lnTo>
                  <a:cubicBezTo>
                    <a:pt x="718" y="33"/>
                    <a:pt x="630" y="1"/>
                    <a:pt x="5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762;p36">
              <a:extLst>
                <a:ext uri="{FF2B5EF4-FFF2-40B4-BE49-F238E27FC236}">
                  <a16:creationId xmlns:a16="http://schemas.microsoft.com/office/drawing/2014/main" id="{DDE03613-3661-4DF7-AB5E-B70330110F21}"/>
                </a:ext>
              </a:extLst>
            </p:cNvPr>
            <p:cNvSpPr/>
            <p:nvPr/>
          </p:nvSpPr>
          <p:spPr>
            <a:xfrm>
              <a:off x="5086463" y="5336375"/>
              <a:ext cx="18500" cy="110475"/>
            </a:xfrm>
            <a:custGeom>
              <a:avLst/>
              <a:gdLst/>
              <a:ahLst/>
              <a:cxnLst/>
              <a:rect l="l" t="t" r="r" b="b"/>
              <a:pathLst>
                <a:path w="740" h="4419" extrusionOk="0">
                  <a:moveTo>
                    <a:pt x="380" y="0"/>
                  </a:moveTo>
                  <a:cubicBezTo>
                    <a:pt x="171" y="0"/>
                    <a:pt x="0" y="152"/>
                    <a:pt x="0" y="360"/>
                  </a:cubicBezTo>
                  <a:lnTo>
                    <a:pt x="0" y="4077"/>
                  </a:lnTo>
                  <a:cubicBezTo>
                    <a:pt x="19" y="4304"/>
                    <a:pt x="195" y="4418"/>
                    <a:pt x="370" y="4418"/>
                  </a:cubicBezTo>
                  <a:cubicBezTo>
                    <a:pt x="546" y="4418"/>
                    <a:pt x="721" y="4304"/>
                    <a:pt x="740" y="4077"/>
                  </a:cubicBezTo>
                  <a:lnTo>
                    <a:pt x="740" y="360"/>
                  </a:lnTo>
                  <a:cubicBezTo>
                    <a:pt x="740" y="152"/>
                    <a:pt x="569" y="0"/>
                    <a:pt x="3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41EE3E6-49B2-9426-4EDA-DE522B73CA71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3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D108F4FD-6A6D-E3A4-956D-D88EF1CD3C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BAE7E1CB-F56F-35E6-0564-0922EA3F99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5024523D-26B2-792C-EDFF-E59A38367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F8D6436C-FB6A-ED4F-CEB1-6B8C46ECE2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21551068-7A37-F21A-2122-B07395A325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6" descr="What is C#? - Viking Software A/S">
              <a:extLst>
                <a:ext uri="{FF2B5EF4-FFF2-40B4-BE49-F238E27FC236}">
                  <a16:creationId xmlns:a16="http://schemas.microsoft.com/office/drawing/2014/main" id="{346C39BF-D331-76E4-A52B-2F1B876773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Sql server - Free logo icons">
              <a:extLst>
                <a:ext uri="{FF2B5EF4-FFF2-40B4-BE49-F238E27FC236}">
                  <a16:creationId xmlns:a16="http://schemas.microsoft.com/office/drawing/2014/main" id="{295FE659-987C-6659-1414-A06ECE6A3A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46" name="Picture 2" descr="Chart.js - Wikipedia">
            <a:extLst>
              <a:ext uri="{FF2B5EF4-FFF2-40B4-BE49-F238E27FC236}">
                <a16:creationId xmlns:a16="http://schemas.microsoft.com/office/drawing/2014/main" id="{81B0A5D6-C246-DDF9-7916-E652F1D20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112" y="850829"/>
            <a:ext cx="3239733" cy="323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>
          <a:extLst>
            <a:ext uri="{FF2B5EF4-FFF2-40B4-BE49-F238E27FC236}">
              <a16:creationId xmlns:a16="http://schemas.microsoft.com/office/drawing/2014/main" id="{D9EF6D9C-C415-9A65-2609-181B7BE0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>
            <a:extLst>
              <a:ext uri="{FF2B5EF4-FFF2-40B4-BE49-F238E27FC236}">
                <a16:creationId xmlns:a16="http://schemas.microsoft.com/office/drawing/2014/main" id="{BBC3517D-7BCF-4BBD-2411-B5BBF7F3453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716610" y="1467398"/>
            <a:ext cx="6353571" cy="26094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A" dirty="0" err="1"/>
              <a:t>Ingresos:El</a:t>
            </a:r>
            <a:r>
              <a:rPr lang="es-PA" dirty="0"/>
              <a:t> método registra el tipo y monto del ingreso ingresado por el usuario y lo guarda en la base de datos. Esta información se usa para actualizar el total de ingresos del sistema.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PA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A" dirty="0" err="1"/>
              <a:t>Gastos:El</a:t>
            </a:r>
            <a:r>
              <a:rPr lang="es-PA" dirty="0"/>
              <a:t> método registra el gasto según la categoría seleccionada y almacena el monto en la base de datos. Los datos se reflejan en el </a:t>
            </a:r>
            <a:r>
              <a:rPr lang="es-PA" dirty="0" err="1"/>
              <a:t>dashboard</a:t>
            </a:r>
            <a:r>
              <a:rPr lang="es-PA" dirty="0"/>
              <a:t> y en la gráfica de gastos.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PA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A" dirty="0" err="1"/>
              <a:t>Deudas:El</a:t>
            </a:r>
            <a:r>
              <a:rPr lang="es-PA" dirty="0"/>
              <a:t> método calcula el total a pagar según el monto y el plazo ingresado aplicando una tasa del 24% anual. Luego registra la deuda para su control financiero.</a:t>
            </a:r>
            <a:endParaRPr dirty="0"/>
          </a:p>
        </p:txBody>
      </p:sp>
      <p:sp>
        <p:nvSpPr>
          <p:cNvPr id="720" name="Google Shape;720;p36">
            <a:extLst>
              <a:ext uri="{FF2B5EF4-FFF2-40B4-BE49-F238E27FC236}">
                <a16:creationId xmlns:a16="http://schemas.microsoft.com/office/drawing/2014/main" id="{B72666FF-576F-4F1F-7511-D4AE9C6A52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Paginas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721" name="Google Shape;721;p36">
            <a:extLst>
              <a:ext uri="{FF2B5EF4-FFF2-40B4-BE49-F238E27FC236}">
                <a16:creationId xmlns:a16="http://schemas.microsoft.com/office/drawing/2014/main" id="{6494A384-9D6D-9768-0E3E-4599E1343EA0}"/>
              </a:ext>
            </a:extLst>
          </p:cNvPr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22" name="Google Shape;722;p36">
              <a:extLst>
                <a:ext uri="{FF2B5EF4-FFF2-40B4-BE49-F238E27FC236}">
                  <a16:creationId xmlns:a16="http://schemas.microsoft.com/office/drawing/2014/main" id="{15003DFE-0E57-853B-8893-A98BBE9538EF}"/>
                </a:ext>
              </a:extLst>
            </p:cNvPr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23" name="Google Shape;723;p36">
              <a:extLst>
                <a:ext uri="{FF2B5EF4-FFF2-40B4-BE49-F238E27FC236}">
                  <a16:creationId xmlns:a16="http://schemas.microsoft.com/office/drawing/2014/main" id="{13FC7139-5A2E-FEE2-A91A-FA324155FE24}"/>
                </a:ext>
              </a:extLst>
            </p:cNvPr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75" name="Google Shape;775;p36">
            <a:extLst>
              <a:ext uri="{FF2B5EF4-FFF2-40B4-BE49-F238E27FC236}">
                <a16:creationId xmlns:a16="http://schemas.microsoft.com/office/drawing/2014/main" id="{50B001D1-6C66-9CD7-F55F-C5A357B6740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76" name="Google Shape;776;p36">
            <a:extLst>
              <a:ext uri="{FF2B5EF4-FFF2-40B4-BE49-F238E27FC236}">
                <a16:creationId xmlns:a16="http://schemas.microsoft.com/office/drawing/2014/main" id="{42CDB31C-5EB2-F01C-B5A2-AE9B360EA53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77" name="Google Shape;777;p36">
            <a:extLst>
              <a:ext uri="{FF2B5EF4-FFF2-40B4-BE49-F238E27FC236}">
                <a16:creationId xmlns:a16="http://schemas.microsoft.com/office/drawing/2014/main" id="{BA0AA9CA-C63E-3EBA-7777-EB3ED6DA8C3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9C5428-EE07-2630-432D-25472BBBDC76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3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2373B457-F6D8-9C9B-262E-1A9FE38BA2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8A0FFA8E-D510-1B77-1427-26F157C6BA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F9F8FA1B-AB4E-3869-EDE2-3D87FF29E7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64ABE52B-58AE-215C-1BBF-228B487ED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33B157AB-5BA7-D04C-025B-F4458D6418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6" descr="What is C#? - Viking Software A/S">
              <a:extLst>
                <a:ext uri="{FF2B5EF4-FFF2-40B4-BE49-F238E27FC236}">
                  <a16:creationId xmlns:a16="http://schemas.microsoft.com/office/drawing/2014/main" id="{083C4E3D-97CF-4928-9CA8-E66548884D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Sql server - Free logo icons">
              <a:extLst>
                <a:ext uri="{FF2B5EF4-FFF2-40B4-BE49-F238E27FC236}">
                  <a16:creationId xmlns:a16="http://schemas.microsoft.com/office/drawing/2014/main" id="{9D344186-CE0F-F6BD-BA74-CAF1C91479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49111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dirty="0"/>
              <a:t>Repositorio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7" name="Google Shape;787;p37"/>
          <p:cNvSpPr txBox="1">
            <a:spLocks noGrp="1"/>
          </p:cNvSpPr>
          <p:nvPr>
            <p:ph type="subTitle" idx="5"/>
          </p:nvPr>
        </p:nvSpPr>
        <p:spPr>
          <a:xfrm>
            <a:off x="1672199" y="1245150"/>
            <a:ext cx="6133921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</a:t>
            </a:r>
            <a:r>
              <a:rPr lang="es-PA" dirty="0"/>
              <a:t>https://github.com/kvinprtugalr/Proyecto1.git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788" name="Google Shape;788;p37"/>
          <p:cNvSpPr txBox="1">
            <a:spLocks noGrp="1"/>
          </p:cNvSpPr>
          <p:nvPr>
            <p:ph type="subTitle" idx="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89" name="Google Shape;789;p37"/>
          <p:cNvSpPr txBox="1">
            <a:spLocks noGrp="1"/>
          </p:cNvSpPr>
          <p:nvPr>
            <p:ph type="subTitle" idx="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90" name="Google Shape;790;p37"/>
          <p:cNvSpPr txBox="1">
            <a:spLocks noGrp="1"/>
          </p:cNvSpPr>
          <p:nvPr>
            <p:ph type="subTitle" idx="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C3AAA76A-EF50-4083-A148-E436FDFC951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22104" y="1817547"/>
            <a:ext cx="4932891" cy="2444678"/>
          </a:xfrm>
          <a:prstGeom prst="rect">
            <a:avLst/>
          </a:prstGeom>
        </p:spPr>
      </p:pic>
      <p:sp>
        <p:nvSpPr>
          <p:cNvPr id="2" name="AutoShape 4" descr="Github Icon Logotipo Vector - Descarga Gratis SVG | Worldvectorlogo">
            <a:extLst>
              <a:ext uri="{FF2B5EF4-FFF2-40B4-BE49-F238E27FC236}">
                <a16:creationId xmlns:a16="http://schemas.microsoft.com/office/drawing/2014/main" id="{43B86BB1-BD5B-4051-9B6E-E579A3978A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A"/>
          </a:p>
        </p:txBody>
      </p:sp>
      <p:pic>
        <p:nvPicPr>
          <p:cNvPr id="21512" name="Picture 8">
            <a:extLst>
              <a:ext uri="{FF2B5EF4-FFF2-40B4-BE49-F238E27FC236}">
                <a16:creationId xmlns:a16="http://schemas.microsoft.com/office/drawing/2014/main" id="{65C4C0D6-C7C5-4750-BE8B-6FC4F12D6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770" y="664242"/>
            <a:ext cx="434065" cy="43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1DA48AC-E477-E86F-5BBB-0ADD874C7AFF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4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5112853F-83A1-5810-B1DB-06C6A1ED5C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1E739C74-5201-2037-E029-E7CA7C6F77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8EFBD1E0-9571-A34B-246C-B2C1F05370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31F5E7FC-2454-3CD4-9EE0-D86920068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1B7A1A8A-CB1C-17B6-8C74-F76607644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6" descr="What is C#? - Viking Software A/S">
              <a:extLst>
                <a:ext uri="{FF2B5EF4-FFF2-40B4-BE49-F238E27FC236}">
                  <a16:creationId xmlns:a16="http://schemas.microsoft.com/office/drawing/2014/main" id="{40AE93AF-5BAA-DB3E-C055-1276E72BD6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Sql server - Free logo icons">
              <a:extLst>
                <a:ext uri="{FF2B5EF4-FFF2-40B4-BE49-F238E27FC236}">
                  <a16:creationId xmlns:a16="http://schemas.microsoft.com/office/drawing/2014/main" id="{5DBE3D1F-A060-4688-3700-F09D5D7B97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62192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48"/>
          <p:cNvSpPr txBox="1">
            <a:spLocks noGrp="1"/>
          </p:cNvSpPr>
          <p:nvPr>
            <p:ph type="title"/>
          </p:nvPr>
        </p:nvSpPr>
        <p:spPr>
          <a:xfrm>
            <a:off x="1133326" y="1949306"/>
            <a:ext cx="3732509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lt1"/>
                </a:solidFill>
              </a:rPr>
              <a:t>Gracias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24" name="Google Shape;2524;p4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>
                <a:solidFill>
                  <a:schemeClr val="accent3"/>
                </a:solidFill>
              </a:rPr>
              <a:t>Asistente Financiero | </a:t>
            </a:r>
            <a:r>
              <a:rPr lang="en-US" sz="1400" dirty="0">
                <a:solidFill>
                  <a:schemeClr val="accent3"/>
                </a:solidFill>
              </a:rPr>
              <a:t>ASP.NET Web Application (.NET Framework) – Web API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25" name="Google Shape;2525;p4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Global.asax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30" name="Google Shape;2530;p4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PA" sz="1400" dirty="0" err="1">
                <a:solidFill>
                  <a:schemeClr val="accent3"/>
                </a:solidFill>
              </a:rPr>
              <a:t>Web.config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531" name="Google Shape;2531;p48"/>
          <p:cNvGrpSpPr/>
          <p:nvPr/>
        </p:nvGrpSpPr>
        <p:grpSpPr>
          <a:xfrm>
            <a:off x="4994678" y="1173377"/>
            <a:ext cx="3439196" cy="2775803"/>
            <a:chOff x="4994678" y="1173377"/>
            <a:chExt cx="3439196" cy="2775803"/>
          </a:xfrm>
        </p:grpSpPr>
        <p:grpSp>
          <p:nvGrpSpPr>
            <p:cNvPr id="2532" name="Google Shape;2532;p48"/>
            <p:cNvGrpSpPr/>
            <p:nvPr/>
          </p:nvGrpSpPr>
          <p:grpSpPr>
            <a:xfrm>
              <a:off x="4994678" y="1173377"/>
              <a:ext cx="3439196" cy="2775803"/>
              <a:chOff x="4572031" y="1415284"/>
              <a:chExt cx="2875341" cy="2319354"/>
            </a:xfrm>
          </p:grpSpPr>
          <p:grpSp>
            <p:nvGrpSpPr>
              <p:cNvPr id="2533" name="Google Shape;2533;p48"/>
              <p:cNvGrpSpPr/>
              <p:nvPr/>
            </p:nvGrpSpPr>
            <p:grpSpPr>
              <a:xfrm>
                <a:off x="4572031" y="1415284"/>
                <a:ext cx="2875341" cy="1993075"/>
                <a:chOff x="3665860" y="822037"/>
                <a:chExt cx="4758136" cy="3243937"/>
              </a:xfrm>
            </p:grpSpPr>
            <p:grpSp>
              <p:nvGrpSpPr>
                <p:cNvPr id="2534" name="Google Shape;2534;p48"/>
                <p:cNvGrpSpPr/>
                <p:nvPr/>
              </p:nvGrpSpPr>
              <p:grpSpPr>
                <a:xfrm>
                  <a:off x="3665860" y="822037"/>
                  <a:ext cx="4758136" cy="3243937"/>
                  <a:chOff x="518725" y="252435"/>
                  <a:chExt cx="6524250" cy="4448015"/>
                </a:xfrm>
              </p:grpSpPr>
              <p:sp>
                <p:nvSpPr>
                  <p:cNvPr id="2535" name="Google Shape;2535;p48"/>
                  <p:cNvSpPr/>
                  <p:nvPr/>
                </p:nvSpPr>
                <p:spPr>
                  <a:xfrm>
                    <a:off x="518725" y="4131625"/>
                    <a:ext cx="6524250" cy="568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22753" extrusionOk="0">
                        <a:moveTo>
                          <a:pt x="0" y="14846"/>
                        </a:moveTo>
                        <a:cubicBezTo>
                          <a:pt x="0" y="19169"/>
                          <a:pt x="4039" y="22753"/>
                          <a:pt x="8305" y="22753"/>
                        </a:cubicBezTo>
                        <a:lnTo>
                          <a:pt x="253120" y="22753"/>
                        </a:lnTo>
                        <a:cubicBezTo>
                          <a:pt x="257443" y="22696"/>
                          <a:pt x="260913" y="19169"/>
                          <a:pt x="260970" y="14846"/>
                        </a:cubicBezTo>
                        <a:lnTo>
                          <a:pt x="26097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  <p:sp>
                <p:nvSpPr>
                  <p:cNvPr id="2536" name="Google Shape;2536;p48"/>
                  <p:cNvSpPr/>
                  <p:nvPr/>
                </p:nvSpPr>
                <p:spPr>
                  <a:xfrm>
                    <a:off x="518725" y="252435"/>
                    <a:ext cx="6524250" cy="3893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970" h="155741" extrusionOk="0">
                        <a:moveTo>
                          <a:pt x="249594" y="9954"/>
                        </a:moveTo>
                        <a:lnTo>
                          <a:pt x="249594" y="144364"/>
                        </a:lnTo>
                        <a:lnTo>
                          <a:pt x="11376" y="144364"/>
                        </a:lnTo>
                        <a:lnTo>
                          <a:pt x="11376" y="9954"/>
                        </a:lnTo>
                        <a:close/>
                        <a:moveTo>
                          <a:pt x="8305" y="0"/>
                        </a:moveTo>
                        <a:cubicBezTo>
                          <a:pt x="4039" y="0"/>
                          <a:pt x="0" y="2844"/>
                          <a:pt x="0" y="7110"/>
                        </a:cubicBezTo>
                        <a:lnTo>
                          <a:pt x="0" y="155740"/>
                        </a:lnTo>
                        <a:lnTo>
                          <a:pt x="260970" y="155740"/>
                        </a:lnTo>
                        <a:lnTo>
                          <a:pt x="260970" y="7110"/>
                        </a:lnTo>
                        <a:cubicBezTo>
                          <a:pt x="260970" y="2844"/>
                          <a:pt x="257386" y="0"/>
                          <a:pt x="25312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2537" name="Google Shape;2537;p48"/>
                <p:cNvSpPr/>
                <p:nvPr/>
              </p:nvSpPr>
              <p:spPr>
                <a:xfrm>
                  <a:off x="5947879" y="3778845"/>
                  <a:ext cx="194076" cy="16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7" h="9100" extrusionOk="0">
                      <a:moveTo>
                        <a:pt x="6092" y="0"/>
                      </a:moveTo>
                      <a:cubicBezTo>
                        <a:pt x="2020" y="0"/>
                        <a:pt x="0" y="4900"/>
                        <a:pt x="2881" y="7747"/>
                      </a:cubicBezTo>
                      <a:cubicBezTo>
                        <a:pt x="3804" y="8681"/>
                        <a:pt x="4944" y="9100"/>
                        <a:pt x="6063" y="9100"/>
                      </a:cubicBezTo>
                      <a:cubicBezTo>
                        <a:pt x="8391" y="9100"/>
                        <a:pt x="10627" y="7286"/>
                        <a:pt x="10627" y="4536"/>
                      </a:cubicBezTo>
                      <a:cubicBezTo>
                        <a:pt x="10627" y="2020"/>
                        <a:pt x="8608" y="0"/>
                        <a:pt x="6092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accent3"/>
                    </a:solidFill>
                  </a:endParaRPr>
                </a:p>
              </p:txBody>
            </p:sp>
          </p:grpSp>
          <p:sp>
            <p:nvSpPr>
              <p:cNvPr id="2538" name="Google Shape;2538;p48"/>
              <p:cNvSpPr/>
              <p:nvPr/>
            </p:nvSpPr>
            <p:spPr>
              <a:xfrm>
                <a:off x="5498909" y="3408365"/>
                <a:ext cx="1040944" cy="326273"/>
              </a:xfrm>
              <a:custGeom>
                <a:avLst/>
                <a:gdLst/>
                <a:ahLst/>
                <a:cxnLst/>
                <a:rect l="l" t="t" r="r" b="b"/>
                <a:pathLst>
                  <a:path w="94481" h="29125" extrusionOk="0">
                    <a:moveTo>
                      <a:pt x="79805" y="18317"/>
                    </a:moveTo>
                    <a:cubicBezTo>
                      <a:pt x="74117" y="12515"/>
                      <a:pt x="73889" y="1"/>
                      <a:pt x="73889" y="1"/>
                    </a:cubicBezTo>
                    <a:lnTo>
                      <a:pt x="20592" y="1"/>
                    </a:lnTo>
                    <a:cubicBezTo>
                      <a:pt x="20592" y="1"/>
                      <a:pt x="20364" y="12515"/>
                      <a:pt x="14676" y="18317"/>
                    </a:cubicBezTo>
                    <a:cubicBezTo>
                      <a:pt x="8931" y="24175"/>
                      <a:pt x="1" y="29124"/>
                      <a:pt x="15529" y="29124"/>
                    </a:cubicBezTo>
                    <a:lnTo>
                      <a:pt x="78952" y="29124"/>
                    </a:lnTo>
                    <a:cubicBezTo>
                      <a:pt x="94480" y="29124"/>
                      <a:pt x="85493" y="24175"/>
                      <a:pt x="79805" y="18317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accent3"/>
                  </a:solidFill>
                </a:endParaRPr>
              </a:p>
            </p:txBody>
          </p:sp>
        </p:grpSp>
        <p:cxnSp>
          <p:nvCxnSpPr>
            <p:cNvPr id="2539" name="Google Shape;2539;p48"/>
            <p:cNvCxnSpPr/>
            <p:nvPr/>
          </p:nvCxnSpPr>
          <p:spPr>
            <a:xfrm rot="10800000">
              <a:off x="5370275" y="3949180"/>
              <a:ext cx="2688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122" name="Picture 2" descr="Developer Cat Illustrations - Free Download in SVG, PNG">
            <a:extLst>
              <a:ext uri="{FF2B5EF4-FFF2-40B4-BE49-F238E27FC236}">
                <a16:creationId xmlns:a16="http://schemas.microsoft.com/office/drawing/2014/main" id="{FA7C343B-E513-42C1-B811-424C7FA9D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039" y="1252574"/>
            <a:ext cx="2710180" cy="2032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E46A331-4864-261E-F896-16B2A98B323A}"/>
              </a:ext>
            </a:extLst>
          </p:cNvPr>
          <p:cNvGrpSpPr/>
          <p:nvPr/>
        </p:nvGrpSpPr>
        <p:grpSpPr>
          <a:xfrm>
            <a:off x="5610285" y="4684767"/>
            <a:ext cx="3254588" cy="369958"/>
            <a:chOff x="5610285" y="4684767"/>
            <a:chExt cx="3254588" cy="369958"/>
          </a:xfrm>
        </p:grpSpPr>
        <p:pic>
          <p:nvPicPr>
            <p:cNvPr id="3" name="Picture 2" descr="Logos para Medios Digitales | Universidad Tecnológica de Panamá">
              <a:extLst>
                <a:ext uri="{FF2B5EF4-FFF2-40B4-BE49-F238E27FC236}">
                  <a16:creationId xmlns:a16="http://schemas.microsoft.com/office/drawing/2014/main" id="{91C6675B-8DA6-08E5-DE4B-B11B57F481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0181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Contáctenos | Facultad de Ingeniería de Sistemas Computacionales">
              <a:extLst>
                <a:ext uri="{FF2B5EF4-FFF2-40B4-BE49-F238E27FC236}">
                  <a16:creationId xmlns:a16="http://schemas.microsoft.com/office/drawing/2014/main" id="{B218B54D-9EF5-DA04-607A-9E40B5B1FC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4873" y="4688331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8" descr="The Code Blogger - Adding ASP .NET Core Identity to Web API Project">
              <a:extLst>
                <a:ext uri="{FF2B5EF4-FFF2-40B4-BE49-F238E27FC236}">
                  <a16:creationId xmlns:a16="http://schemas.microsoft.com/office/drawing/2014/main" id="{835F0C36-6A50-E38C-D8F9-7A33E7F946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4869" y="4688331"/>
              <a:ext cx="360000" cy="356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0" descr="Microsoft Visual Studio - Wikipedia, la enciclopedia libre">
              <a:extLst>
                <a:ext uri="{FF2B5EF4-FFF2-40B4-BE49-F238E27FC236}">
                  <a16:creationId xmlns:a16="http://schemas.microsoft.com/office/drawing/2014/main" id="{1C3AAA5A-CFBB-14AB-4F51-DDEE8C04C2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7525" y="4694725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Github White Icon SVG Vector &amp; PNG Free Download | UXWing">
              <a:extLst>
                <a:ext uri="{FF2B5EF4-FFF2-40B4-BE49-F238E27FC236}">
                  <a16:creationId xmlns:a16="http://schemas.microsoft.com/office/drawing/2014/main" id="{2C9F2C2D-B174-1F86-3A9D-6D4CBCD43A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557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16" descr="What is C#? - Viking Software A/S">
              <a:extLst>
                <a:ext uri="{FF2B5EF4-FFF2-40B4-BE49-F238E27FC236}">
                  <a16:creationId xmlns:a16="http://schemas.microsoft.com/office/drawing/2014/main" id="{3D7D1797-F580-04AF-BF56-DE35960FE4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2213" y="468476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Sql server - Free logo icons">
              <a:extLst>
                <a:ext uri="{FF2B5EF4-FFF2-40B4-BE49-F238E27FC236}">
                  <a16:creationId xmlns:a16="http://schemas.microsoft.com/office/drawing/2014/main" id="{3241C864-C2DC-14F4-E879-A1EB8FB52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0285" y="4684767"/>
              <a:ext cx="356616" cy="356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424</Words>
  <Application>Microsoft Office PowerPoint</Application>
  <PresentationFormat>On-screen Show (16:9)</PresentationFormat>
  <Paragraphs>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Fira Code</vt:lpstr>
      <vt:lpstr>Arial</vt:lpstr>
      <vt:lpstr>Programming Language Workshop for Beginners by Slidesgo</vt:lpstr>
      <vt:lpstr>Proyecto final ‘Asistente Financiero’ {</vt:lpstr>
      <vt:lpstr>Diagrama de alto nivel; inicial {</vt:lpstr>
      <vt:lpstr>Diagrama de alto nivel; final {</vt:lpstr>
      <vt:lpstr>Diagrama ER{</vt:lpstr>
      <vt:lpstr>Default.aspx.cs {</vt:lpstr>
      <vt:lpstr>Método ‘CargarDashboard()’ {</vt:lpstr>
      <vt:lpstr>CHART.JS; {</vt:lpstr>
      <vt:lpstr>Paginas {</vt:lpstr>
      <vt:lpstr>Repositorio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Prj2 ‘WebAPI Calculadora’ {</dc:title>
  <dc:creator>USUARIO</dc:creator>
  <cp:lastModifiedBy>GLORIA MORENO</cp:lastModifiedBy>
  <cp:revision>31</cp:revision>
  <dcterms:modified xsi:type="dcterms:W3CDTF">2025-12-17T21:11:38Z</dcterms:modified>
</cp:coreProperties>
</file>